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27c26e14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a27c26e14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a27c26e14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27c26e14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a27c26e14_0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a27c26e14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27c26e14_3_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a27c26e14_3_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a27c26e14_3_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27c26e14_3_7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a27c26e14_3_7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a27c26e14_3_7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27c26e14_3_8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a27c26e14_3_8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a27c26e14_3_8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27c26e14_3_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a27c26e14_3_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27c26e14_3_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27c26e14_3_10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a27c26e14_3_10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a27c26e14_3_10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27c26e14_3_1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a27c26e14_3_1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a27c26e14_3_1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a27c26e14_3_1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fa27c26e14_3_1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a27c26e14_3_1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a27c26e14_3_2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fa27c26e14_3_2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a27c26e14_3_2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a27c26e14_3_23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fa27c26e14_3_23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a27c26e14_3_23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a27c26e14_3_2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fa27c26e14_3_2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fa27c26e14_3_2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a27c26e14_3_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fa27c26e14_3_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a27c26e14_3_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mc:AlternateContent>
    <mc:Choice Requires="p14">
      <p:transition spd="slow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7132320" y="-891540"/>
            <a:ext cx="3086100" cy="3086100"/>
          </a:xfrm>
          <a:prstGeom prst="ellipse">
            <a:avLst/>
          </a:prstGeom>
          <a:solidFill>
            <a:srgbClr val="065A82">
              <a:alpha val="6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955280" y="3154680"/>
            <a:ext cx="2194560" cy="219456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-822960" y="3771900"/>
            <a:ext cx="2057400" cy="2057400"/>
          </a:xfrm>
          <a:prstGeom prst="ellipse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548640" y="1474470"/>
            <a:ext cx="617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WEATHER AUS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548640" y="1817370"/>
            <a:ext cx="7406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Exploratory Data Analysis of Australian Weather Records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548640" y="2708910"/>
            <a:ext cx="65151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Cleaning, imputing, and exploring 10+ years of daily observations across Australian weather stations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Analysis Notebook Walkthrough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11480" y="308610"/>
            <a:ext cx="829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Project Overview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411480" y="740664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What this notebook sets out to 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411480" y="1371600"/>
            <a:ext cx="1930500" cy="2674500"/>
          </a:xfrm>
          <a:prstGeom prst="roundRect">
            <a:avLst>
              <a:gd fmla="val 3552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9AA5B1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617220" y="1611630"/>
            <a:ext cx="411600" cy="411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617220" y="161163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617220" y="2160270"/>
            <a:ext cx="151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Load &amp; Engineer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17220" y="2503170"/>
            <a:ext cx="151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Import the weatherAUS dataset and derive year, month, day, and day-of-week from the Date column.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2534031" y="1371600"/>
            <a:ext cx="1930500" cy="2674500"/>
          </a:xfrm>
          <a:prstGeom prst="roundRect">
            <a:avLst>
              <a:gd fmla="val 3552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9AA5B1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2739771" y="1611630"/>
            <a:ext cx="411600" cy="411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2739771" y="161163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739771" y="2160270"/>
            <a:ext cx="151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Diagnose Gaps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39771" y="2503170"/>
            <a:ext cx="151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Focus on a single month (July) and visualize missingness across every weather variable.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656582" y="1371600"/>
            <a:ext cx="1930500" cy="2674500"/>
          </a:xfrm>
          <a:prstGeom prst="roundRect">
            <a:avLst>
              <a:gd fmla="val 3552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9AA5B1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4862322" y="1611630"/>
            <a:ext cx="411600" cy="411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4862322" y="161163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862322" y="2160270"/>
            <a:ext cx="151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Impute Intelligently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862322" y="2503170"/>
            <a:ext cx="151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Fill gaps using location-aware medians and modes, then group-based lookups for stubborn columns.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779133" y="1371600"/>
            <a:ext cx="1930500" cy="2674500"/>
          </a:xfrm>
          <a:prstGeom prst="roundRect">
            <a:avLst>
              <a:gd fmla="val 3552" name="adj"/>
            </a:avLst>
          </a:prstGeom>
          <a:solidFill>
            <a:srgbClr val="F4F8FB"/>
          </a:solidFill>
          <a:ln>
            <a:noFill/>
          </a:ln>
          <a:effectLst>
            <a:outerShdw blurRad="76200" rotWithShape="0" algn="bl" dir="5400000" dist="25400">
              <a:srgbClr val="9AA5B1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984873" y="1611630"/>
            <a:ext cx="411600" cy="411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984873" y="161163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6984873" y="2160270"/>
            <a:ext cx="1518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Explore &amp;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984873" y="2503170"/>
            <a:ext cx="151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Correlate variables, inspect distributions, and surface findings in an interactive Dash dashboard.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8709660" y="486918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The Dataset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weatherAUS.csv — daily weather observations from Australian stations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11480" y="1337310"/>
            <a:ext cx="1954530" cy="1097280"/>
          </a:xfrm>
          <a:prstGeom prst="roundRect">
            <a:avLst>
              <a:gd fmla="val 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411480" y="1440180"/>
            <a:ext cx="19545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~145K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14350" y="1988820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Daily records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2503170" y="1337310"/>
            <a:ext cx="1954530" cy="1097280"/>
          </a:xfrm>
          <a:prstGeom prst="roundRect">
            <a:avLst>
              <a:gd fmla="val 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503170" y="1440180"/>
            <a:ext cx="19545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26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2606040" y="1988820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Columns after feature engineering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594860" y="1337310"/>
            <a:ext cx="1954530" cy="1097280"/>
          </a:xfrm>
          <a:prstGeom prst="roundRect">
            <a:avLst>
              <a:gd fmla="val 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4594860" y="1440180"/>
            <a:ext cx="19545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49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697730" y="1988820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Weather stations / locations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686550" y="1337310"/>
            <a:ext cx="1954530" cy="1097280"/>
          </a:xfrm>
          <a:prstGeom prst="roundRect">
            <a:avLst>
              <a:gd fmla="val 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6686550" y="1440180"/>
            <a:ext cx="195453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2008–2017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6789420" y="1988820"/>
            <a:ext cx="174879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Date range covered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11480" y="264033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Key columns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11480" y="303809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617220" y="2928366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Location, Date → year, month, day, day_of_week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594860" y="303809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4800600" y="2928366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MinTemp, MaxTemp, Temp9am, Temp3pm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11480" y="341528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617220" y="3305556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Rainfall, Evaporation, Sunshine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594860" y="341528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4800600" y="3305556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WindGustDir/Speed, WindDir/Speed 9am &amp; 3pm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11480" y="379247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617220" y="3682746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Humidity9am/3pm, Pressure9am/3pm, Cloud9am/3pm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594860" y="3792474"/>
            <a:ext cx="82296" cy="822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800600" y="3682746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RainToday, RainTomorrow (target)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 Engineering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Turning a single Date field into usable time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carbon/imgs/feature_engineering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016100"/>
            <a:ext cx="5212080" cy="193426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829300" y="144018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changed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829300" y="1783080"/>
            <a:ext cx="28803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Date parsed to a real datetime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year, month, day extracted as integers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dat_of_week captures weekly seasonality (0 = Monday)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Original Date column dropped once features are derived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Diagnosing Missing Data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Analysis narrows to July records, then visualizes nulls per column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carbon/imgs/missing_values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46734"/>
            <a:ext cx="4869180" cy="1958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3086100"/>
            <a:ext cx="4869180" cy="161163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5829300" y="133731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What the notebook does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5829300" y="1680210"/>
            <a:ext cx="28803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Subset the data to month == 7 (July) for focused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Plot null counts per column with seaborn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Use missingno.bar() for a quick visual missingness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Char char="•"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Sunshine, Evaporation and Cloud readings show the heaviest gaps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Imputation Strategy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A layered, location-aware fill-in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411480" y="126873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Numerical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411480" y="1495044"/>
            <a:ext cx="41148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Median fill, grouped by Location, with a global-median fallback.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carbon/imgs/numeric_imputation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885950"/>
            <a:ext cx="4046220" cy="213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4697730" y="1268730"/>
            <a:ext cx="40462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Cloud cover (group-based lookup)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4697730" y="1495044"/>
            <a:ext cx="40462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Quantile-bucketed Humidity + Location groups supply the median Cloud value.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carbon/imgs/cloud_imputation.png" id="160" name="Google Shape;1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7730" y="1885950"/>
            <a:ext cx="4046220" cy="213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Checking the Effect of Imputation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Cloud9am / Cloud3pm distributions are compared after each imputation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71600"/>
            <a:ext cx="4046220" cy="2948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371600"/>
            <a:ext cx="4046220" cy="294894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Correlation Analysis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Which variables move together with cloud cover — and beyond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work/carbon/imgs/correlation.png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03020"/>
            <a:ext cx="4046220" cy="200512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411480" y="3531870"/>
            <a:ext cx="404622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Humidity9am / Humidity3pm </a:t>
            </a: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— strongest positive relationship with cloud cover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Temp9am / Temp3pm </a:t>
            </a: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— negative relationship: hotter days tend toward clearer skies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Rainfall </a:t>
            </a: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— moderate positive correlation with both cloud readings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4800600" y="137160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4800600" y="137160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383530" y="137160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5383530" y="137160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5966460" y="1371600"/>
            <a:ext cx="555498" cy="555498"/>
          </a:xfrm>
          <a:prstGeom prst="rect">
            <a:avLst/>
          </a:prstGeom>
          <a:solidFill>
            <a:srgbClr val="5B8FD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966460" y="137160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0.30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549390" y="1371600"/>
            <a:ext cx="555498" cy="555498"/>
          </a:xfrm>
          <a:prstGeom prst="rect">
            <a:avLst/>
          </a:prstGeom>
          <a:solidFill>
            <a:srgbClr val="E0867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6549390" y="137160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-0.40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7132320" y="1371600"/>
            <a:ext cx="555498" cy="555498"/>
          </a:xfrm>
          <a:prstGeom prst="rect">
            <a:avLst/>
          </a:prstGeom>
          <a:solidFill>
            <a:srgbClr val="E0867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7132320" y="137160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4800600" y="195453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4800600" y="195453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5383530" y="195453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383530" y="195453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5966460" y="1954530"/>
            <a:ext cx="555498" cy="555498"/>
          </a:xfrm>
          <a:prstGeom prst="rect">
            <a:avLst/>
          </a:prstGeom>
          <a:solidFill>
            <a:srgbClr val="5B8FD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5966460" y="195453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6549390" y="1954530"/>
            <a:ext cx="555498" cy="555498"/>
          </a:xfrm>
          <a:prstGeom prst="rect">
            <a:avLst/>
          </a:prstGeom>
          <a:solidFill>
            <a:srgbClr val="F3C9C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6549390" y="195453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7132320" y="1954530"/>
            <a:ext cx="555498" cy="555498"/>
          </a:xfrm>
          <a:prstGeom prst="rect">
            <a:avLst/>
          </a:prstGeom>
          <a:solidFill>
            <a:srgbClr val="E0867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7132320" y="195453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4800600" y="2537460"/>
            <a:ext cx="555498" cy="555498"/>
          </a:xfrm>
          <a:prstGeom prst="rect">
            <a:avLst/>
          </a:prstGeom>
          <a:solidFill>
            <a:srgbClr val="5B8FD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4800600" y="253746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0.30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383530" y="2537460"/>
            <a:ext cx="555498" cy="555498"/>
          </a:xfrm>
          <a:prstGeom prst="rect">
            <a:avLst/>
          </a:prstGeom>
          <a:solidFill>
            <a:srgbClr val="5B8FD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383530" y="253746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0.35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966460" y="253746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966460" y="253746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6549390" y="2537460"/>
            <a:ext cx="555498" cy="555498"/>
          </a:xfrm>
          <a:prstGeom prst="rect">
            <a:avLst/>
          </a:prstGeom>
          <a:solidFill>
            <a:srgbClr val="F3C9C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549390" y="253746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132320" y="2537460"/>
            <a:ext cx="555498" cy="555498"/>
          </a:xfrm>
          <a:prstGeom prst="rect">
            <a:avLst/>
          </a:prstGeom>
          <a:solidFill>
            <a:srgbClr val="F3C9C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7132320" y="253746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800600" y="3120390"/>
            <a:ext cx="555498" cy="555498"/>
          </a:xfrm>
          <a:prstGeom prst="rect">
            <a:avLst/>
          </a:prstGeom>
          <a:solidFill>
            <a:srgbClr val="E0867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4800600" y="312039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-0.40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383530" y="3120390"/>
            <a:ext cx="555498" cy="555498"/>
          </a:xfrm>
          <a:prstGeom prst="rect">
            <a:avLst/>
          </a:prstGeom>
          <a:solidFill>
            <a:srgbClr val="F3C9C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383530" y="312039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966460" y="3120390"/>
            <a:ext cx="555498" cy="555498"/>
          </a:xfrm>
          <a:prstGeom prst="rect">
            <a:avLst/>
          </a:prstGeom>
          <a:solidFill>
            <a:srgbClr val="F3C9C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966460" y="312039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549390" y="312039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549390" y="312039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132320" y="312039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132320" y="312039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800600" y="3703320"/>
            <a:ext cx="555498" cy="555498"/>
          </a:xfrm>
          <a:prstGeom prst="rect">
            <a:avLst/>
          </a:prstGeom>
          <a:solidFill>
            <a:srgbClr val="E0867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4800600" y="370332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-0.50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383530" y="3703320"/>
            <a:ext cx="555498" cy="555498"/>
          </a:xfrm>
          <a:prstGeom prst="rect">
            <a:avLst/>
          </a:prstGeom>
          <a:solidFill>
            <a:srgbClr val="E0867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383530" y="370332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-0.60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5966460" y="3703320"/>
            <a:ext cx="555498" cy="555498"/>
          </a:xfrm>
          <a:prstGeom prst="rect">
            <a:avLst/>
          </a:prstGeom>
          <a:solidFill>
            <a:srgbClr val="F3C9C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966460" y="370332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-0.15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549390" y="370332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549390" y="370332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132320" y="3703320"/>
            <a:ext cx="555498" cy="555498"/>
          </a:xfrm>
          <a:prstGeom prst="rect">
            <a:avLst/>
          </a:prstGeom>
          <a:solidFill>
            <a:srgbClr val="0B3D9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132320" y="3703320"/>
            <a:ext cx="5554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3874770" y="1371600"/>
            <a:ext cx="891540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Humid9am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3874770" y="1954530"/>
            <a:ext cx="891540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Humid3pm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3874770" y="2537460"/>
            <a:ext cx="891540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Rainfall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3874770" y="3120390"/>
            <a:ext cx="891540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Temp9am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3874770" y="3703320"/>
            <a:ext cx="891540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Temp3pm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3874770" y="4354830"/>
            <a:ext cx="45948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Illustrative correlation matrix (values approximate the notebook's heatmap pattern)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Quantile Binning for Smarter Imputation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pd.qcut() creates 5 groups per variable to enable finer-grained lookups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11480" y="133731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48640" y="160820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48640" y="160820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891540" y="133731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Humidity9am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223260" y="133731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3360420" y="160820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3360420" y="160820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3703320" y="133731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Humidity3pm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035040" y="133731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6172200" y="160820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172200" y="160820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515100" y="133731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Cloud9am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11480" y="226314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48640" y="253403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548640" y="253403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891540" y="226314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Cloud3pm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223260" y="226314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3360420" y="253403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3360420" y="253403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3703320" y="226314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MaxTemp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6035040" y="226314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6172200" y="253403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172200" y="253403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6515100" y="226314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Temp3pm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411480" y="318897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48640" y="345986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48640" y="345986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891540" y="318897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Sunshine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3223260" y="318897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3360420" y="345986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3360420" y="345986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3703320" y="318897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WindSpeed3pm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035040" y="3188970"/>
            <a:ext cx="2674620" cy="788670"/>
          </a:xfrm>
          <a:prstGeom prst="roundRect">
            <a:avLst>
              <a:gd fmla="val 6957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6172200" y="3459861"/>
            <a:ext cx="246888" cy="246888"/>
          </a:xfrm>
          <a:prstGeom prst="roundRect">
            <a:avLst>
              <a:gd fmla="val 1666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172200" y="3459861"/>
            <a:ext cx="24688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6515100" y="3188970"/>
            <a:ext cx="20574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WindSpeed9am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411480" y="4183380"/>
            <a:ext cx="829818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Each variable is split into 5 quantile buckets (q=5). Combining buckets across several variables plus Location gives narrow, meaningful groups for filling Sunshine, Cloud, and related nulls — more accurate than a single global median.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The Target Variable: RainTomorrow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Checking class balance before any modeling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371600"/>
            <a:ext cx="43891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5074920" y="1371600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Why this matters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5074920" y="1714500"/>
            <a:ext cx="36347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The dataset is imbalanced — far more "No rain tomorrow" days than "Yes"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This is expected for July, a drier month across much of Australia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Class imbalance matters for any future predictive modeling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5B6B7A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Confirms the cleaned dataset is ready for deeper analysis or 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 txBox="1"/>
          <p:nvPr/>
        </p:nvSpPr>
        <p:spPr>
          <a:xfrm>
            <a:off x="411480" y="34290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Notebook to Dashboard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411480" y="788670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cleaned July dataset powers an interactive Dash + Plotly application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411480" y="1268730"/>
            <a:ext cx="3771900" cy="24003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411480" y="1268730"/>
            <a:ext cx="3771900" cy="24003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34924" y="1351026"/>
            <a:ext cx="82296" cy="82296"/>
          </a:xfrm>
          <a:prstGeom prst="ellipse">
            <a:avLst/>
          </a:prstGeom>
          <a:solidFill>
            <a:srgbClr val="E553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/>
          <p:nvPr/>
        </p:nvSpPr>
        <p:spPr>
          <a:xfrm>
            <a:off x="685800" y="1351026"/>
            <a:ext cx="82296" cy="82296"/>
          </a:xfrm>
          <a:prstGeom prst="ellipse">
            <a:avLst/>
          </a:prstGeom>
          <a:solidFill>
            <a:srgbClr val="E5A94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836676" y="1351026"/>
            <a:ext cx="82296" cy="82296"/>
          </a:xfrm>
          <a:prstGeom prst="ellipse">
            <a:avLst/>
          </a:prstGeom>
          <a:solidFill>
            <a:srgbClr val="4CAF6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480060" y="1577340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July Rain Data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480060" y="1837944"/>
            <a:ext cx="36347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Rainfall Analysis for July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651510" y="2914650"/>
            <a:ext cx="288036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1008126" y="2640330"/>
            <a:ext cx="288036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1364742" y="2777490"/>
            <a:ext cx="288036" cy="685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1721358" y="2468880"/>
            <a:ext cx="288036" cy="99441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2077974" y="2708910"/>
            <a:ext cx="288036" cy="7543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2434590" y="2537460"/>
            <a:ext cx="288036" cy="92583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2791206" y="2983230"/>
            <a:ext cx="288036" cy="4800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5" name="Google Shape;315;p25"/>
          <p:cNvCxnSpPr/>
          <p:nvPr/>
        </p:nvCxnSpPr>
        <p:spPr>
          <a:xfrm>
            <a:off x="514350" y="3497580"/>
            <a:ext cx="3429000" cy="0"/>
          </a:xfrm>
          <a:prstGeom prst="straightConnector1">
            <a:avLst/>
          </a:prstGeom>
          <a:noFill/>
          <a:ln cap="flat" cmpd="sng" w="12700">
            <a:solidFill>
              <a:srgbClr val="C7D0D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work/carbon/imgs/dash_app.png" id="316" name="Google Shape;3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806190"/>
            <a:ext cx="37719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4457700" y="137160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Dashboard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4457700" y="1714500"/>
            <a:ext cx="425196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Built with Dash, Bootstrap components, and Plotly Express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Presents the cleaned, imputed July weather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Interactive charts and tables for rainfall exploration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9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Turns static notebook analysis into a shareable web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 txBox="1"/>
          <p:nvPr/>
        </p:nvSpPr>
        <p:spPr>
          <a:xfrm>
            <a:off x="411480" y="308610"/>
            <a:ext cx="82981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B2430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411480" y="740664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What the analysis established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411480" y="1371600"/>
            <a:ext cx="4011930" cy="1165860"/>
          </a:xfrm>
          <a:prstGeom prst="roundRect">
            <a:avLst>
              <a:gd fmla="val 5882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651510" y="1577340"/>
            <a:ext cx="54864" cy="7543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651510" y="1508760"/>
            <a:ext cx="353187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Clean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651510" y="1817370"/>
            <a:ext cx="35318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Raw dates become usable year/month/day features; a full missing-data audit precedes any imputation.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697730" y="1371600"/>
            <a:ext cx="4011930" cy="1165860"/>
          </a:xfrm>
          <a:prstGeom prst="roundRect">
            <a:avLst>
              <a:gd fmla="val 5882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4937760" y="1577340"/>
            <a:ext cx="54864" cy="7543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4937760" y="1508760"/>
            <a:ext cx="353187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Smart imputation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4937760" y="1817370"/>
            <a:ext cx="35318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Location and quantile-group aware fills (median/mode) preserve realistic distributions instead of flattening them.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411480" y="2811780"/>
            <a:ext cx="4011930" cy="1165860"/>
          </a:xfrm>
          <a:prstGeom prst="roundRect">
            <a:avLst>
              <a:gd fmla="val 5882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651510" y="3017520"/>
            <a:ext cx="54864" cy="7543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651510" y="2948940"/>
            <a:ext cx="353187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Correlated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6"/>
          <p:cNvSpPr txBox="1"/>
          <p:nvPr/>
        </p:nvSpPr>
        <p:spPr>
          <a:xfrm>
            <a:off x="651510" y="3257550"/>
            <a:ext cx="35318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Humidity, temperature, and cloud cover show clear, explainable relationships that hold up in the heatmaps.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4697730" y="2811780"/>
            <a:ext cx="4011930" cy="1165860"/>
          </a:xfrm>
          <a:prstGeom prst="roundRect">
            <a:avLst>
              <a:gd fmla="val 5882" name="adj"/>
            </a:avLst>
          </a:prstGeom>
          <a:solidFill>
            <a:srgbClr val="F4F8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6"/>
          <p:cNvSpPr/>
          <p:nvPr/>
        </p:nvSpPr>
        <p:spPr>
          <a:xfrm>
            <a:off x="4937760" y="3017520"/>
            <a:ext cx="54864" cy="7543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4937760" y="2948940"/>
            <a:ext cx="353187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Ready for 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4937760" y="3257550"/>
            <a:ext cx="35318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The cleaned July dataset (and full 2008 extract) are exported to CSV and feed directly into a Dash dashboard.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 txBox="1"/>
          <p:nvPr/>
        </p:nvSpPr>
        <p:spPr>
          <a:xfrm>
            <a:off x="8709660" y="4869180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/>
        </p:nvSpPr>
        <p:spPr>
          <a:xfrm>
            <a:off x="617225" y="2104946"/>
            <a:ext cx="1519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" name="Google Shape;350;p27"/>
          <p:cNvGrpSpPr/>
          <p:nvPr/>
        </p:nvGrpSpPr>
        <p:grpSpPr>
          <a:xfrm>
            <a:off x="93675" y="78075"/>
            <a:ext cx="4066750" cy="1487700"/>
            <a:chOff x="0" y="0"/>
            <a:chExt cx="4066750" cy="1487700"/>
          </a:xfrm>
        </p:grpSpPr>
        <p:sp>
          <p:nvSpPr>
            <p:cNvPr id="351" name="Google Shape;351;p27"/>
            <p:cNvSpPr/>
            <p:nvPr/>
          </p:nvSpPr>
          <p:spPr>
            <a:xfrm>
              <a:off x="0" y="0"/>
              <a:ext cx="1930500" cy="1487700"/>
            </a:xfrm>
            <a:prstGeom prst="roundRect">
              <a:avLst>
                <a:gd fmla="val 3552" name="adj"/>
              </a:avLst>
            </a:prstGeom>
            <a:solidFill>
              <a:srgbClr val="F4F8FB"/>
            </a:solidFill>
            <a:ln>
              <a:noFill/>
            </a:ln>
            <a:effectLst>
              <a:outerShdw blurRad="76200" rotWithShape="0" algn="bl" dir="5400000" dist="25400">
                <a:srgbClr val="9AA5B1">
                  <a:alpha val="25098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205745" y="240030"/>
              <a:ext cx="411600" cy="4116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7"/>
            <p:cNvSpPr txBox="1"/>
            <p:nvPr/>
          </p:nvSpPr>
          <p:spPr>
            <a:xfrm>
              <a:off x="205745" y="240030"/>
              <a:ext cx="4116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7"/>
            <p:cNvSpPr txBox="1"/>
            <p:nvPr/>
          </p:nvSpPr>
          <p:spPr>
            <a:xfrm>
              <a:off x="205751" y="788675"/>
              <a:ext cx="1930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430"/>
                </a:buClr>
                <a:buSzPts val="1200"/>
                <a:buFont typeface="Cambria"/>
                <a:buNone/>
              </a:pPr>
              <a:r>
                <a:rPr b="1" lang="en" sz="1200">
                  <a:solidFill>
                    <a:srgbClr val="1B2430"/>
                  </a:solidFill>
                  <a:latin typeface="Cambria"/>
                  <a:ea typeface="Cambria"/>
                  <a:cs typeface="Cambria"/>
                  <a:sym typeface="Cambria"/>
                </a:rPr>
                <a:t>Abdelrahman Hossam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2136250" y="0"/>
              <a:ext cx="1930500" cy="1487700"/>
            </a:xfrm>
            <a:prstGeom prst="roundRect">
              <a:avLst>
                <a:gd fmla="val 3552" name="adj"/>
              </a:avLst>
            </a:prstGeom>
            <a:solidFill>
              <a:srgbClr val="F4F8FB"/>
            </a:solidFill>
            <a:ln>
              <a:noFill/>
            </a:ln>
            <a:effectLst>
              <a:outerShdw blurRad="76200" rotWithShape="0" algn="bl" dir="5400000" dist="25400">
                <a:srgbClr val="9AA5B1">
                  <a:alpha val="25098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2341996" y="240030"/>
              <a:ext cx="411600" cy="4116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 txBox="1"/>
            <p:nvPr/>
          </p:nvSpPr>
          <p:spPr>
            <a:xfrm>
              <a:off x="2341996" y="240030"/>
              <a:ext cx="4116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7"/>
            <p:cNvSpPr txBox="1"/>
            <p:nvPr/>
          </p:nvSpPr>
          <p:spPr>
            <a:xfrm>
              <a:off x="2341996" y="788670"/>
              <a:ext cx="151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430"/>
                </a:buClr>
                <a:buSzPts val="1200"/>
                <a:buFont typeface="Cambria"/>
                <a:buNone/>
              </a:pPr>
              <a:r>
                <a:rPr b="1" lang="en" sz="1200">
                  <a:solidFill>
                    <a:srgbClr val="1B2430"/>
                  </a:solidFill>
                  <a:latin typeface="Cambria"/>
                  <a:ea typeface="Cambria"/>
                  <a:cs typeface="Cambria"/>
                  <a:sym typeface="Cambria"/>
                </a:rPr>
                <a:t>Mazen Abdallah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27"/>
          <p:cNvSpPr txBox="1"/>
          <p:nvPr/>
        </p:nvSpPr>
        <p:spPr>
          <a:xfrm>
            <a:off x="2739771" y="2104945"/>
            <a:ext cx="151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0" name="Google Shape;360;p27"/>
          <p:cNvGrpSpPr/>
          <p:nvPr/>
        </p:nvGrpSpPr>
        <p:grpSpPr>
          <a:xfrm>
            <a:off x="100525" y="1739025"/>
            <a:ext cx="4053050" cy="1543171"/>
            <a:chOff x="4656575" y="788675"/>
            <a:chExt cx="4053050" cy="1543171"/>
          </a:xfrm>
        </p:grpSpPr>
        <p:sp>
          <p:nvSpPr>
            <p:cNvPr id="361" name="Google Shape;361;p27"/>
            <p:cNvSpPr/>
            <p:nvPr/>
          </p:nvSpPr>
          <p:spPr>
            <a:xfrm>
              <a:off x="4656575" y="788675"/>
              <a:ext cx="1930500" cy="1487700"/>
            </a:xfrm>
            <a:prstGeom prst="roundRect">
              <a:avLst>
                <a:gd fmla="val 3552" name="adj"/>
              </a:avLst>
            </a:prstGeom>
            <a:solidFill>
              <a:srgbClr val="F4F8FB"/>
            </a:solidFill>
            <a:ln>
              <a:noFill/>
            </a:ln>
            <a:effectLst>
              <a:outerShdw blurRad="76200" rotWithShape="0" algn="bl" dir="5400000" dist="25400">
                <a:srgbClr val="9AA5B1">
                  <a:alpha val="25098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4862322" y="1028705"/>
              <a:ext cx="411600" cy="4116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7"/>
            <p:cNvSpPr txBox="1"/>
            <p:nvPr/>
          </p:nvSpPr>
          <p:spPr>
            <a:xfrm>
              <a:off x="4862322" y="1028705"/>
              <a:ext cx="4116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7"/>
            <p:cNvSpPr txBox="1"/>
            <p:nvPr/>
          </p:nvSpPr>
          <p:spPr>
            <a:xfrm>
              <a:off x="4862322" y="1577345"/>
              <a:ext cx="151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430"/>
                </a:buClr>
                <a:buSzPts val="1200"/>
                <a:buFont typeface="Cambria"/>
                <a:buNone/>
              </a:pPr>
              <a:r>
                <a:rPr b="1" lang="en" sz="1200">
                  <a:solidFill>
                    <a:srgbClr val="1B2430"/>
                  </a:solidFill>
                  <a:latin typeface="Cambria"/>
                  <a:ea typeface="Cambria"/>
                  <a:cs typeface="Cambria"/>
                  <a:sym typeface="Cambria"/>
                </a:rPr>
                <a:t>Abdellah Awad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7"/>
            <p:cNvSpPr txBox="1"/>
            <p:nvPr/>
          </p:nvSpPr>
          <p:spPr>
            <a:xfrm>
              <a:off x="4862325" y="1920246"/>
              <a:ext cx="1519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6779125" y="788675"/>
              <a:ext cx="1930500" cy="1487700"/>
            </a:xfrm>
            <a:prstGeom prst="roundRect">
              <a:avLst>
                <a:gd fmla="val 3552" name="adj"/>
              </a:avLst>
            </a:prstGeom>
            <a:solidFill>
              <a:srgbClr val="F4F8FB"/>
            </a:solidFill>
            <a:ln>
              <a:noFill/>
            </a:ln>
            <a:effectLst>
              <a:outerShdw blurRad="76200" rotWithShape="0" algn="bl" dir="5400000" dist="25400">
                <a:srgbClr val="9AA5B1">
                  <a:alpha val="25098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6984873" y="1028705"/>
              <a:ext cx="411600" cy="4116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7"/>
            <p:cNvSpPr txBox="1"/>
            <p:nvPr/>
          </p:nvSpPr>
          <p:spPr>
            <a:xfrm>
              <a:off x="6984873" y="1028705"/>
              <a:ext cx="4116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7"/>
            <p:cNvSpPr txBox="1"/>
            <p:nvPr/>
          </p:nvSpPr>
          <p:spPr>
            <a:xfrm>
              <a:off x="6984873" y="1577345"/>
              <a:ext cx="151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430"/>
                </a:buClr>
                <a:buSzPts val="1200"/>
                <a:buFont typeface="Cambria"/>
                <a:buNone/>
              </a:pPr>
              <a:r>
                <a:rPr lang="en" sz="1200">
                  <a:solidFill>
                    <a:schemeClr val="dk1"/>
                  </a:solidFill>
                </a:rPr>
                <a:t>Daniel Aziz</a:t>
              </a:r>
              <a:r>
                <a:rPr lang="en" sz="1100">
                  <a:solidFill>
                    <a:schemeClr val="dk1"/>
                  </a:solidFill>
                </a:rPr>
                <a:t>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7"/>
            <p:cNvSpPr txBox="1"/>
            <p:nvPr/>
          </p:nvSpPr>
          <p:spPr>
            <a:xfrm>
              <a:off x="6984875" y="1920246"/>
              <a:ext cx="15189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1" name="Google Shape;371;p27"/>
          <p:cNvSpPr txBox="1"/>
          <p:nvPr/>
        </p:nvSpPr>
        <p:spPr>
          <a:xfrm>
            <a:off x="8709660" y="4286255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B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" name="Google Shape;372;p27"/>
          <p:cNvGrpSpPr/>
          <p:nvPr/>
        </p:nvGrpSpPr>
        <p:grpSpPr>
          <a:xfrm>
            <a:off x="1161800" y="3455450"/>
            <a:ext cx="1930500" cy="1543171"/>
            <a:chOff x="911250" y="3455450"/>
            <a:chExt cx="1930500" cy="1543171"/>
          </a:xfrm>
        </p:grpSpPr>
        <p:sp>
          <p:nvSpPr>
            <p:cNvPr id="373" name="Google Shape;373;p27"/>
            <p:cNvSpPr/>
            <p:nvPr/>
          </p:nvSpPr>
          <p:spPr>
            <a:xfrm>
              <a:off x="911250" y="3455450"/>
              <a:ext cx="1930500" cy="1487700"/>
            </a:xfrm>
            <a:prstGeom prst="roundRect">
              <a:avLst>
                <a:gd fmla="val 3552" name="adj"/>
              </a:avLst>
            </a:prstGeom>
            <a:solidFill>
              <a:srgbClr val="F4F8FB"/>
            </a:solidFill>
            <a:ln>
              <a:noFill/>
            </a:ln>
            <a:effectLst>
              <a:outerShdw blurRad="76200" rotWithShape="0" algn="bl" dir="5400000" dist="25400">
                <a:srgbClr val="9AA5B1">
                  <a:alpha val="251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1116998" y="3695480"/>
              <a:ext cx="411600" cy="411600"/>
            </a:xfrm>
            <a:prstGeom prst="ellipse">
              <a:avLst/>
            </a:prstGeom>
            <a:solidFill>
              <a:srgbClr val="065A8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 txBox="1"/>
            <p:nvPr/>
          </p:nvSpPr>
          <p:spPr>
            <a:xfrm>
              <a:off x="1116998" y="3695480"/>
              <a:ext cx="4116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Calibri"/>
                <a:buNone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7"/>
            <p:cNvSpPr txBox="1"/>
            <p:nvPr/>
          </p:nvSpPr>
          <p:spPr>
            <a:xfrm>
              <a:off x="1116998" y="4244120"/>
              <a:ext cx="151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430"/>
                </a:buClr>
                <a:buSzPts val="1200"/>
                <a:buFont typeface="Cambria"/>
                <a:buNone/>
              </a:pPr>
              <a:r>
                <a:rPr lang="en" sz="1200">
                  <a:solidFill>
                    <a:schemeClr val="dk1"/>
                  </a:solidFill>
                </a:rPr>
                <a:t>Abdallah Elqady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7"/>
            <p:cNvSpPr txBox="1"/>
            <p:nvPr/>
          </p:nvSpPr>
          <p:spPr>
            <a:xfrm>
              <a:off x="1117000" y="4587021"/>
              <a:ext cx="15189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900"/>
                <a:buFont typeface="Calibri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8" name="Google Shape;3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900" y="0"/>
            <a:ext cx="47641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